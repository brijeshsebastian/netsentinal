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8" r:id="rId3"/>
    <p:sldId id="259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92" r:id="rId15"/>
    <p:sldId id="280" r:id="rId16"/>
    <p:sldId id="281" r:id="rId17"/>
    <p:sldId id="274" r:id="rId18"/>
    <p:sldId id="275" r:id="rId19"/>
    <p:sldId id="276" r:id="rId20"/>
    <p:sldId id="286" r:id="rId21"/>
    <p:sldId id="282" r:id="rId22"/>
    <p:sldId id="288" r:id="rId23"/>
    <p:sldId id="261" r:id="rId24"/>
    <p:sldId id="277" r:id="rId25"/>
    <p:sldId id="293" r:id="rId26"/>
    <p:sldId id="279" r:id="rId27"/>
    <p:sldId id="284" r:id="rId28"/>
    <p:sldId id="285" r:id="rId29"/>
    <p:sldId id="287" r:id="rId30"/>
    <p:sldId id="283" r:id="rId31"/>
    <p:sldId id="262" r:id="rId32"/>
    <p:sldId id="278" r:id="rId33"/>
    <p:sldId id="263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-55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2968E-2548-4B38-8C63-6A6CFB7CF333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F4A9F9-14A4-44E2-B513-0934E36FC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305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4A0D58A-CB8B-74BB-4A7F-4FB845552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866157D-B9D5-794B-11C8-445006C56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0319DD2-3F61-296F-1082-8AB08D99D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BFF6DCC-59D3-AC08-EFD8-106B1BAC3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2375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0A137E-7B92-01BC-229C-0ED2387E8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5493FE4-316E-0966-E3DE-233C751EE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01D35C3-AD70-80FB-4BDA-AFD7B03C2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995D204-A584-A143-6D6E-665A0DA65B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208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274320"/>
            <a:ext cx="2194560" cy="219456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5" name="Image 0" descr="icons/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" y="73380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196596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Traffic Analyzer and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Intrusion Detection 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703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Platform for Real-Time Network Monitoring and Threat Detection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709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Sameer Sha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45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Reg. No: CHN25MCA-2045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Smt. Beena K, Assistant Professor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6751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devices continuously exchange data in the form of packets.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amount of network traffic is difficult to monitor manually.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packet information can be complex to understand.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network activities may go unnoticed.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analysis helps understand how a network is being used.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helps identify potentially harmful activity.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combines both functions in a single web platform.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635240" y="1234440"/>
            <a:ext cx="4023360" cy="5074920"/>
          </a:xfrm>
          <a:prstGeom prst="roundRect">
            <a:avLst>
              <a:gd name="adj" fmla="val 318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098280" y="2468880"/>
            <a:ext cx="1097280" cy="109728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6" name="Image 0" descr="icons/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2715768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09560" y="3794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Packets</a:t>
            </a:r>
            <a:endParaRPr lang="en-US" sz="17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Real Insight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60" y="4617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+ Detection,</a:t>
            </a:r>
            <a:endParaRPr lang="en-US" sz="125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platform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10515600" cy="3566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33288" y="20574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741" y="225285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315468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web-based system that can monitor network traffic in real time, analyze packet information, and identify potentially suspicious activities such as port scanning, </a:t>
            </a:r>
            <a:r>
              <a:rPr lang="en-US" sz="1600" dirty="0" err="1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</a:t>
            </a: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-like traffic, abnormal traffic patterns and the system should present the analyzed information through a simple dashboard with real-time alerts and historical data for easier network monitoring.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Literature Review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881360" y="365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5378" y="509778"/>
            <a:ext cx="352044" cy="3520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" y="1167062"/>
            <a:ext cx="12192000" cy="58004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658368" y="475488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/>
                </a:solidFill>
              </a:rPr>
              <a:t>4</a:t>
            </a:r>
            <a:endParaRPr lang="en-US" sz="900" dirty="0">
              <a:solidFill>
                <a:schemeClr val="bg1"/>
              </a:solidFill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1468192"/>
            <a:ext cx="10719054" cy="477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53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Literature Review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881360" y="365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5378" y="509778"/>
            <a:ext cx="352044" cy="3520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218578"/>
            <a:ext cx="12196798" cy="569093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658368" y="475488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9" y="1515059"/>
            <a:ext cx="10863072" cy="463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09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Identified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6751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devices continuously exchange data in the form of packets.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cs typeface="Calibri" pitchFamily="34" charset="-120"/>
              </a:rPr>
              <a:t>Heuristic-based systems can provide fast and understandable detection, but predefined rules may not identify new or sophisticated attacks.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cs typeface="Calibri" pitchFamily="34" charset="-120"/>
              </a:rPr>
              <a:t>Machine-learning-based systems can detect abnormal traffic patterns, but they require datasets, model training and parameter tuning.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cs typeface="Calibri" pitchFamily="34" charset="-120"/>
              </a:rPr>
              <a:t>Some anomaly-detection approaches can identify unusual traffic but may not clearly explain why the traffic was considered suspicious.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cs typeface="Calibri" pitchFamily="34" charset="-120"/>
              </a:rPr>
              <a:t>There is a need for a lightweight, real-time and user-friendly monitoring system that combines traffic analysis, multiple detection rules, risk assessment and clear visualization.</a:t>
            </a:r>
          </a:p>
        </p:txBody>
      </p:sp>
      <p:sp>
        <p:nvSpPr>
          <p:cNvPr id="4" name="Shape 2"/>
          <p:cNvSpPr/>
          <p:nvPr/>
        </p:nvSpPr>
        <p:spPr>
          <a:xfrm>
            <a:off x="7635240" y="1234440"/>
            <a:ext cx="4023360" cy="5074920"/>
          </a:xfrm>
          <a:prstGeom prst="roundRect">
            <a:avLst>
              <a:gd name="adj" fmla="val 318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098280" y="2468880"/>
            <a:ext cx="1097280" cy="109728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6" name="Image 0" descr="icons/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2715768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09560" y="3794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2200"/>
              </a:lnSpc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Detection</a:t>
            </a:r>
          </a:p>
          <a:p>
            <a:pPr algn="ctr">
              <a:lnSpc>
                <a:spcPts val="2200"/>
              </a:lnSpc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Understanding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60" y="4617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detect threats, but practical, explainable monitoring remains a challenge.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5103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6751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Network Monitoring – Continuously monitor live network traffic.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 – Capture network packets using Python and </a:t>
            </a:r>
            <a:r>
              <a:rPr lang="en-US" sz="1450" dirty="0" err="1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</a:t>
            </a: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Analysis – Extract source/destination IP, ports, protocol, packet size and other relevant information.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Classification – Identify protocols such as TCP, UDP, DNS and IP.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– Detect suspicious activities using predefined detection rules.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Detection – Identify patterns such as SYN Flood, Port Scanning, Suspicious DNS Requests , Suspicious Payloads, Malformed Packets etc.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Generation – Generate alerts when suspicious behavior crosses defined thresholds.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– Display traffic statistics, detected threats, alerts and host activity.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Logging – Store packet information and detected events for later analysis.</a:t>
            </a:r>
          </a:p>
        </p:txBody>
      </p:sp>
      <p:sp>
        <p:nvSpPr>
          <p:cNvPr id="4" name="Shape 2"/>
          <p:cNvSpPr/>
          <p:nvPr/>
        </p:nvSpPr>
        <p:spPr>
          <a:xfrm>
            <a:off x="7635240" y="1234440"/>
            <a:ext cx="4023360" cy="5074920"/>
          </a:xfrm>
          <a:prstGeom prst="roundRect">
            <a:avLst>
              <a:gd name="adj" fmla="val 318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098280" y="2468880"/>
            <a:ext cx="1097280" cy="109728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6" name="Image 0" descr="icons/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2715768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09560" y="3794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2200"/>
              </a:lnSpc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Packets</a:t>
            </a:r>
            <a:endParaRPr lang="en-US" sz="1700" dirty="0"/>
          </a:p>
          <a:p>
            <a:pPr algn="ctr">
              <a:lnSpc>
                <a:spcPts val="2200"/>
              </a:lnSpc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Real Insight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60" y="4617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+ Detection,</a:t>
            </a:r>
            <a:endParaRPr lang="en-US" sz="1250" dirty="0"/>
          </a:p>
          <a:p>
            <a:pPr algn="ctr">
              <a:lnSpc>
                <a:spcPts val="1800"/>
              </a:lnSpc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platform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71722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61737" y="1239253"/>
            <a:ext cx="10841415" cy="5089357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" y="1425741"/>
            <a:ext cx="10058400" cy="471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44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10515600" cy="3566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33288" y="20574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741" y="225285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315468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continuously captures network packets, extracts relevant information, analyzes the traffic using predefined detection rules, generates alerts for suspicious activities, and presents the results through a dashboard.</a:t>
            </a:r>
          </a:p>
          <a:p>
            <a:pPr>
              <a:lnSpc>
                <a:spcPct val="135000"/>
              </a:lnSpc>
            </a:pPr>
            <a:endParaRPr lang="en-US" sz="1600" dirty="0">
              <a:solidFill>
                <a:srgbClr val="3A3F55"/>
              </a:solidFill>
              <a:latin typeface="Calibri" pitchFamily="34" charset="0"/>
              <a:cs typeface="Calibri" pitchFamily="34" charset="-120"/>
            </a:endParaRPr>
          </a:p>
          <a:p>
            <a:pPr algn="ctr">
              <a:lnSpc>
                <a:spcPct val="135000"/>
              </a:lnSpc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cs typeface="Calibri" pitchFamily="34" charset="-120"/>
              </a:rPr>
              <a:t>Live Traffic → Packet Capture → Feature Extraction → Detection → Alerts → Visualization</a:t>
            </a:r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84593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Components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66751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Interface </a:t>
            </a:r>
          </a:p>
          <a:p>
            <a:pPr marL="742950" lvl="1" indent="-285750"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the system to the network.</a:t>
            </a:r>
          </a:p>
          <a:p>
            <a:pPr marL="742950" lvl="1" indent="-285750"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network traffic from the selected interface.</a:t>
            </a:r>
          </a:p>
          <a:p>
            <a:pPr marL="742950" lvl="1" indent="-285750"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entry point for packet monitoring.	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</a:t>
            </a:r>
          </a:p>
          <a:p>
            <a:pPr marL="800100" lvl="1" indent="-342900"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live network packets.</a:t>
            </a:r>
          </a:p>
          <a:p>
            <a:pPr marL="800100" lvl="1" indent="-342900"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Python and </a:t>
            </a:r>
            <a:r>
              <a:rPr lang="en-US" sz="1400" dirty="0" err="1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</a:t>
            </a: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800100" lvl="1" indent="-342900"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monitors network traffic.</a:t>
            </a:r>
          </a:p>
          <a:p>
            <a:pPr marL="800100" lvl="1" indent="-342900"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captured packets to the processing module.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Processing &amp; Feature Extraction</a:t>
            </a:r>
          </a:p>
          <a:p>
            <a:pPr marL="742950" lvl="1" indent="-285750">
              <a:lnSpc>
                <a:spcPct val="115000"/>
              </a:lnSpc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packet protocol.</a:t>
            </a:r>
          </a:p>
          <a:p>
            <a:pPr marL="742950" lvl="1" indent="-285750">
              <a:lnSpc>
                <a:spcPct val="115000"/>
              </a:lnSpc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Source IP , Destination IP, source and destination ports.</a:t>
            </a:r>
          </a:p>
          <a:p>
            <a:pPr marL="742950" lvl="1" indent="-285750">
              <a:lnSpc>
                <a:spcPct val="115000"/>
              </a:lnSpc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timestamp and packet size.</a:t>
            </a:r>
          </a:p>
          <a:p>
            <a:pPr marL="742950" lvl="1" indent="-285750">
              <a:lnSpc>
                <a:spcPct val="115000"/>
              </a:lnSpc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packet information for detection.         </a:t>
            </a:r>
          </a:p>
        </p:txBody>
      </p:sp>
      <p:sp>
        <p:nvSpPr>
          <p:cNvPr id="4" name="Shape 2"/>
          <p:cNvSpPr/>
          <p:nvPr/>
        </p:nvSpPr>
        <p:spPr>
          <a:xfrm>
            <a:off x="7648119" y="1234440"/>
            <a:ext cx="4023360" cy="5074920"/>
          </a:xfrm>
          <a:prstGeom prst="roundRect">
            <a:avLst>
              <a:gd name="adj" fmla="val 318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909560" y="1555054"/>
            <a:ext cx="3593592" cy="223970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</p:sp>
      <p:sp>
        <p:nvSpPr>
          <p:cNvPr id="7" name="Text 4"/>
          <p:cNvSpPr/>
          <p:nvPr/>
        </p:nvSpPr>
        <p:spPr>
          <a:xfrm>
            <a:off x="7968995" y="402207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2200"/>
              </a:lnSpc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Packet Capture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68995" y="447927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Python + </a:t>
            </a:r>
            <a:r>
              <a:rPr lang="en-US" sz="125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32" t="-1711" r="36983"/>
          <a:stretch/>
        </p:blipFill>
        <p:spPr>
          <a:xfrm>
            <a:off x="8561812" y="1352766"/>
            <a:ext cx="2195973" cy="230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279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1"/>
          <p:cNvSpPr/>
          <p:nvPr/>
        </p:nvSpPr>
        <p:spPr>
          <a:xfrm>
            <a:off x="4739424" y="631065"/>
            <a:ext cx="6535127" cy="57240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+mj-lt"/>
              <a:buAutoNum type="arabicPeriod" startAt="4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</a:p>
          <a:p>
            <a:pPr marL="800100" lvl="1" indent="-342900"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the extracted packet information.</a:t>
            </a:r>
          </a:p>
          <a:p>
            <a:pPr marL="800100" lvl="1" indent="-342900"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predefined detection rules.</a:t>
            </a:r>
          </a:p>
          <a:p>
            <a:pPr marL="800100" lvl="1" indent="-342900"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SYN flood attacks, port scanning, suspicious DNS queries.</a:t>
            </a:r>
          </a:p>
          <a:p>
            <a:pPr marL="800100" lvl="1" indent="-342900"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malformed packets.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+mj-lt"/>
              <a:buAutoNum type="arabicPeriod" startAt="4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Logging</a:t>
            </a:r>
          </a:p>
          <a:p>
            <a:pPr marL="800100" lvl="1" indent="-342900"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alerts when suspicious activity is detected.</a:t>
            </a:r>
          </a:p>
          <a:p>
            <a:pPr marL="800100" lvl="1" indent="-342900"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type of detected attack.</a:t>
            </a:r>
          </a:p>
          <a:p>
            <a:pPr marL="800100" lvl="1" indent="-342900"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source and destination information.</a:t>
            </a:r>
          </a:p>
          <a:p>
            <a:pPr marL="800100" lvl="1" indent="-342900"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timestamp and risk level.</a:t>
            </a:r>
          </a:p>
          <a:p>
            <a:pPr marL="800100" lvl="1" indent="-342900"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alert and packet-summary information for later analysis.</a:t>
            </a:r>
          </a:p>
          <a:p>
            <a:pPr>
              <a:lnSpc>
                <a:spcPct val="115000"/>
              </a:lnSpc>
              <a:spcAft>
                <a:spcPts val="1200"/>
              </a:spcAft>
              <a:buSzPct val="100000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</a:t>
            </a:r>
          </a:p>
        </p:txBody>
      </p:sp>
      <p:sp>
        <p:nvSpPr>
          <p:cNvPr id="8" name="Shape 2"/>
          <p:cNvSpPr/>
          <p:nvPr/>
        </p:nvSpPr>
        <p:spPr>
          <a:xfrm>
            <a:off x="548640" y="955072"/>
            <a:ext cx="4023360" cy="5076000"/>
          </a:xfrm>
          <a:prstGeom prst="roundRect">
            <a:avLst>
              <a:gd name="adj" fmla="val 3182"/>
            </a:avLst>
          </a:prstGeom>
          <a:solidFill>
            <a:srgbClr val="1E2761"/>
          </a:solidFill>
          <a:ln/>
        </p:spPr>
      </p:sp>
      <p:sp>
        <p:nvSpPr>
          <p:cNvPr id="12" name="Shape 3"/>
          <p:cNvSpPr/>
          <p:nvPr/>
        </p:nvSpPr>
        <p:spPr>
          <a:xfrm>
            <a:off x="763524" y="1532194"/>
            <a:ext cx="3593592" cy="223970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87837" y="1532194"/>
            <a:ext cx="3344966" cy="2229977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822960" y="402207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2200"/>
              </a:lnSpc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&amp; Alert</a:t>
            </a:r>
            <a:endParaRPr lang="en-US" sz="1700" dirty="0"/>
          </a:p>
        </p:txBody>
      </p:sp>
      <p:sp>
        <p:nvSpPr>
          <p:cNvPr id="14" name="Text 5"/>
          <p:cNvSpPr/>
          <p:nvPr/>
        </p:nvSpPr>
        <p:spPr>
          <a:xfrm>
            <a:off x="822960" y="4489575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+ Alert,</a:t>
            </a:r>
          </a:p>
          <a:p>
            <a:pPr algn="ctr">
              <a:lnSpc>
                <a:spcPts val="1800"/>
              </a:lnSpc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77765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3944"/>
            <a:ext cx="6675120" cy="571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+mj-lt"/>
              <a:buAutoNum type="arabicPeriod" startAt="6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Visualization</a:t>
            </a:r>
          </a:p>
          <a:p>
            <a:pPr marL="800100" lvl="1" indent="-342900">
              <a:lnSpc>
                <a:spcPct val="115000"/>
              </a:lnSpc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real-time view of network activity.</a:t>
            </a:r>
          </a:p>
          <a:p>
            <a:pPr marL="800100" lvl="1" indent="-342900">
              <a:lnSpc>
                <a:spcPct val="115000"/>
              </a:lnSpc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live traffic information, protocol statistics.</a:t>
            </a:r>
          </a:p>
          <a:p>
            <a:pPr marL="800100" lvl="1" indent="-342900">
              <a:lnSpc>
                <a:spcPct val="115000"/>
              </a:lnSpc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detected attacks and alerts.</a:t>
            </a:r>
          </a:p>
          <a:p>
            <a:pPr marL="800100" lvl="1" indent="-342900">
              <a:lnSpc>
                <a:spcPct val="115000"/>
              </a:lnSpc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host activity and risk information.</a:t>
            </a:r>
          </a:p>
          <a:p>
            <a:pPr marL="800100" lvl="1" indent="-342900">
              <a:lnSpc>
                <a:spcPct val="115000"/>
              </a:lnSpc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the user understand detected network threats.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Font typeface="+mj-lt"/>
              <a:buAutoNum type="arabicPeriod" startAt="7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</a:p>
          <a:p>
            <a:pPr marL="800100" lvl="1" indent="-342900">
              <a:lnSpc>
                <a:spcPct val="115000"/>
              </a:lnSpc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alert logs.</a:t>
            </a:r>
          </a:p>
          <a:p>
            <a:pPr marL="800100" lvl="1" indent="-342900">
              <a:lnSpc>
                <a:spcPct val="115000"/>
              </a:lnSpc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packet summaries</a:t>
            </a:r>
          </a:p>
          <a:p>
            <a:pPr marL="800100" lvl="1" indent="-342900">
              <a:lnSpc>
                <a:spcPct val="115000"/>
              </a:lnSpc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.Stores captured raw packets (PCAP).</a:t>
            </a:r>
          </a:p>
          <a:p>
            <a:pPr marL="800100" lvl="1" indent="-342900">
              <a:lnSpc>
                <a:spcPct val="115000"/>
              </a:lnSpc>
              <a:spcAft>
                <a:spcPts val="1200"/>
              </a:spcAft>
              <a:buSzPct val="100000"/>
              <a:buFont typeface="Arial" pitchFamily="34" charset="0"/>
              <a:buChar char="•"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offline analysis and investigation.</a:t>
            </a:r>
          </a:p>
        </p:txBody>
      </p:sp>
      <p:sp>
        <p:nvSpPr>
          <p:cNvPr id="4" name="Shape 2"/>
          <p:cNvSpPr/>
          <p:nvPr/>
        </p:nvSpPr>
        <p:spPr>
          <a:xfrm>
            <a:off x="7635239" y="962052"/>
            <a:ext cx="4023360" cy="5074920"/>
          </a:xfrm>
          <a:prstGeom prst="roundRect">
            <a:avLst>
              <a:gd name="adj" fmla="val 3182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3794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2200"/>
              </a:lnSpc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Storage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59" y="42519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+ Store , </a:t>
            </a:r>
          </a:p>
          <a:p>
            <a:pPr algn="ctr">
              <a:lnSpc>
                <a:spcPts val="1800"/>
              </a:lnSpc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place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2" name="Shape 3"/>
          <p:cNvSpPr/>
          <p:nvPr/>
        </p:nvSpPr>
        <p:spPr>
          <a:xfrm>
            <a:off x="7827264" y="1532194"/>
            <a:ext cx="3639312" cy="223970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97"/>
          <a:stretch/>
        </p:blipFill>
        <p:spPr>
          <a:xfrm>
            <a:off x="8099361" y="1234440"/>
            <a:ext cx="3095117" cy="258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67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54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3944" y="1081824"/>
            <a:ext cx="10859208" cy="5061399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blurRad="1270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8489" y="1249251"/>
            <a:ext cx="10573555" cy="477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35000"/>
              </a:lnSpc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: Provides a simple and responsive interface for monitoring network activity, viewing alerts, and accessing system reports.</a:t>
            </a:r>
          </a:p>
          <a:p>
            <a:pPr marL="285750" indent="-285750">
              <a:lnSpc>
                <a:spcPct val="135000"/>
              </a:lnSpc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cs typeface="Calibri" pitchFamily="34" charset="-120"/>
              </a:rPr>
              <a:t>Network Monitoring Module : Captures live network packets using Python and </a:t>
            </a:r>
            <a:r>
              <a:rPr lang="en-US" sz="1600" dirty="0" err="1">
                <a:solidFill>
                  <a:srgbClr val="3A3F55"/>
                </a:solidFill>
                <a:latin typeface="Calibri" pitchFamily="34" charset="0"/>
                <a:cs typeface="Calibri" pitchFamily="34" charset="-120"/>
              </a:rPr>
              <a:t>Scapy</a:t>
            </a:r>
            <a:r>
              <a:rPr lang="en-US" sz="1600" dirty="0">
                <a:solidFill>
                  <a:srgbClr val="3A3F55"/>
                </a:solidFill>
                <a:latin typeface="Calibri" pitchFamily="34" charset="0"/>
                <a:cs typeface="Calibri" pitchFamily="34" charset="-120"/>
              </a:rPr>
              <a:t> and continuously monitors network traffic.</a:t>
            </a:r>
          </a:p>
          <a:p>
            <a:pPr marL="285750" indent="-285750">
              <a:lnSpc>
                <a:spcPct val="135000"/>
              </a:lnSpc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cs typeface="Calibri" pitchFamily="34" charset="-120"/>
              </a:rPr>
              <a:t>Packet Analysis &amp; Intrusion Detection Module : Processes packets, extracts relevant features, and detects suspicious activities using predefined detection rules.</a:t>
            </a:r>
          </a:p>
          <a:p>
            <a:pPr marL="285750" indent="-285750">
              <a:lnSpc>
                <a:spcPct val="135000"/>
              </a:lnSpc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cs typeface="Calibri" pitchFamily="34" charset="-120"/>
              </a:rPr>
              <a:t>Alert &amp; Reporting Module : Generates security alerts, records detected incidents and risk levels, and provides historical reports.</a:t>
            </a:r>
          </a:p>
          <a:p>
            <a:pPr marL="285750" indent="-285750">
              <a:lnSpc>
                <a:spcPct val="135000"/>
              </a:lnSpc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cs typeface="Calibri" pitchFamily="34" charset="-120"/>
              </a:rPr>
              <a:t>Dashboard / Visualization Module : Displays real-time network traffic, protocol statistics, detected attacks, alerts, and host risk information.</a:t>
            </a:r>
          </a:p>
          <a:p>
            <a:pPr marL="285750" indent="-285750">
              <a:lnSpc>
                <a:spcPct val="135000"/>
              </a:lnSpc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cs typeface="Calibri" pitchFamily="34" charset="-120"/>
              </a:rPr>
              <a:t>Storage Module : Stores packet summaries, alert logs, and captured raw packets for later analysis and investigation.</a:t>
            </a:r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13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2714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744" y="3154680"/>
            <a:ext cx="10954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DATA FLOW DIAGRAM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14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93634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LEVEL 0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574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  <a:buSzPct val="100000"/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009" y="1647180"/>
            <a:ext cx="10042062" cy="41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00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LEVEL 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574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  <a:buSzPct val="100000"/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780" y="1481768"/>
            <a:ext cx="9424517" cy="448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03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 </a:t>
            </a:r>
            <a:r>
              <a:rPr lang="en-US" sz="32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8946"/>
            <a:ext cx="6675120" cy="5286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spcAft>
                <a:spcPts val="1200"/>
              </a:spcAft>
              <a:buSzPct val="100000"/>
            </a:pPr>
            <a:r>
              <a:rPr lang="en-US" sz="2400" b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provides a simple and responsive web-based interface.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is developed using React.js.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real-time network traffic and protocol statistics.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detected attacks, security alerts and risk levels.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charts, tables and filtering options for traffic analysis.</a:t>
            </a:r>
          </a:p>
        </p:txBody>
      </p:sp>
      <p:sp>
        <p:nvSpPr>
          <p:cNvPr id="4" name="Shape 2"/>
          <p:cNvSpPr/>
          <p:nvPr/>
        </p:nvSpPr>
        <p:spPr>
          <a:xfrm>
            <a:off x="7648119" y="1234440"/>
            <a:ext cx="4023360" cy="5074920"/>
          </a:xfrm>
          <a:prstGeom prst="roundRect">
            <a:avLst>
              <a:gd name="adj" fmla="val 3182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3794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2200"/>
              </a:lnSpc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59" y="42519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web-based interface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2" name="Shape 3"/>
          <p:cNvSpPr/>
          <p:nvPr/>
        </p:nvSpPr>
        <p:spPr>
          <a:xfrm>
            <a:off x="7827264" y="1532194"/>
            <a:ext cx="3639312" cy="223970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39" r="66158" b="22741"/>
          <a:stretch/>
        </p:blipFill>
        <p:spPr>
          <a:xfrm>
            <a:off x="8374989" y="1504378"/>
            <a:ext cx="2543861" cy="229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13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Software Requirements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8946"/>
            <a:ext cx="6675120" cy="5286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System: Windows / Linux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React.js, HTML, CSS, JavaScript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Python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Capture: </a:t>
            </a:r>
            <a:r>
              <a:rPr lang="en-US" sz="1450" dirty="0" err="1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</a:t>
            </a:r>
            <a:endParaRPr lang="en-US" sz="1450" dirty="0">
              <a:solidFill>
                <a:srgbClr val="3A3F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Flask / </a:t>
            </a:r>
            <a:r>
              <a:rPr lang="en-US" sz="1450" dirty="0" err="1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50" dirty="0">
              <a:solidFill>
                <a:srgbClr val="3A3F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Communication: </a:t>
            </a:r>
            <a:r>
              <a:rPr lang="en-US" sz="1450" dirty="0" err="1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450" dirty="0">
              <a:solidFill>
                <a:srgbClr val="3A3F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Processing: Pandas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Storage: CSV / JSONL / PCAP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Browser: Chrome / Edge / Firefox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Tool: VS Code</a:t>
            </a:r>
          </a:p>
        </p:txBody>
      </p:sp>
      <p:sp>
        <p:nvSpPr>
          <p:cNvPr id="4" name="Shape 2"/>
          <p:cNvSpPr/>
          <p:nvPr/>
        </p:nvSpPr>
        <p:spPr>
          <a:xfrm>
            <a:off x="7635240" y="1234440"/>
            <a:ext cx="4023360" cy="5074920"/>
          </a:xfrm>
          <a:prstGeom prst="roundRect">
            <a:avLst>
              <a:gd name="adj" fmla="val 3182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3794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2200"/>
              </a:lnSpc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59" y="42519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+ Database</a:t>
            </a:r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2" name="Shape 3"/>
          <p:cNvSpPr/>
          <p:nvPr/>
        </p:nvSpPr>
        <p:spPr>
          <a:xfrm>
            <a:off x="7827264" y="1532194"/>
            <a:ext cx="3639312" cy="223970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80" t="15940" r="34566" b="21448"/>
          <a:stretch/>
        </p:blipFill>
        <p:spPr>
          <a:xfrm>
            <a:off x="8640852" y="1616216"/>
            <a:ext cx="2012133" cy="207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75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Hardware Requirements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8946"/>
            <a:ext cx="6675120" cy="5286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Computer/Laptop: Minimum 4 GB RAM and dual-core processor.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At least 10 GB of free storage.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Interface: Wi-Fi or Ethernet adapter for packet capture.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Monitor or laptop screen for viewing the React dashboard.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Local network connection for real-time traffic monitoring.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Additional network device for generating and testing traffic.</a:t>
            </a:r>
          </a:p>
        </p:txBody>
      </p:sp>
      <p:sp>
        <p:nvSpPr>
          <p:cNvPr id="4" name="Shape 2"/>
          <p:cNvSpPr/>
          <p:nvPr/>
        </p:nvSpPr>
        <p:spPr>
          <a:xfrm>
            <a:off x="7635240" y="1234440"/>
            <a:ext cx="4023360" cy="5074920"/>
          </a:xfrm>
          <a:prstGeom prst="roundRect">
            <a:avLst>
              <a:gd name="adj" fmla="val 3182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3794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2200"/>
              </a:lnSpc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Requirement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59" y="42519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+ Storage + </a:t>
            </a:r>
            <a:r>
              <a:rPr lang="en-US" sz="125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1250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2" name="Shape 3"/>
          <p:cNvSpPr/>
          <p:nvPr/>
        </p:nvSpPr>
        <p:spPr>
          <a:xfrm>
            <a:off x="7827264" y="1532194"/>
            <a:ext cx="3639312" cy="223970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34" t="19123" b="22500"/>
          <a:stretch/>
        </p:blipFill>
        <p:spPr>
          <a:xfrm>
            <a:off x="8651762" y="1355179"/>
            <a:ext cx="1990314" cy="224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20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3E152D01-1711-D30B-BED7-68DADEE34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16DF5388-4537-1C49-7BDE-8413B66FFA04}"/>
              </a:ext>
            </a:extLst>
          </p:cNvPr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xmlns="" id="{6AA9B151-663C-B101-35D4-0348C10181AF}"/>
              </a:ext>
            </a:extLst>
          </p:cNvPr>
          <p:cNvSpPr/>
          <p:nvPr/>
        </p:nvSpPr>
        <p:spPr>
          <a:xfrm>
            <a:off x="548640" y="1143000"/>
            <a:ext cx="1097280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xmlns="" id="{B4A87FC3-3250-67C9-04E7-D8A2CD0AEC60}"/>
              </a:ext>
            </a:extLst>
          </p:cNvPr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xmlns="" id="{47949BE8-7FB1-EAF7-1847-7FCFF94B42B3}"/>
              </a:ext>
            </a:extLst>
          </p:cNvPr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20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5C9B089-956D-B89C-B78B-71A0CA014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575" y="1401106"/>
            <a:ext cx="8266929" cy="465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4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Database Requirements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8946"/>
            <a:ext cx="6675120" cy="5286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US" sz="1450" dirty="0" err="1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50" dirty="0">
              <a:solidFill>
                <a:srgbClr val="3A3F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Traffic: Stores packet and traffic details.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Stores detected attacks, severity and timestamps.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Devices: Stores discovered device information.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Stores authentication and user details.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Stores historical analysis and generated reports.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Important packet captures can be retained as PCAP files rather than putting every raw packet directly into </a:t>
            </a:r>
            <a:r>
              <a:rPr lang="en-US" sz="1450" dirty="0" err="1" smtClean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50" dirty="0">
              <a:solidFill>
                <a:srgbClr val="3A3F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35240" y="1234440"/>
            <a:ext cx="4023360" cy="5074920"/>
          </a:xfrm>
          <a:prstGeom prst="roundRect">
            <a:avLst>
              <a:gd name="adj" fmla="val 3182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3794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2200"/>
              </a:lnSpc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Requirement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59" y="42519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en-US" sz="125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50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12" name="Shape 3"/>
          <p:cNvSpPr/>
          <p:nvPr/>
        </p:nvSpPr>
        <p:spPr>
          <a:xfrm>
            <a:off x="7827264" y="1532194"/>
            <a:ext cx="3639312" cy="22397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009" y="1625440"/>
            <a:ext cx="3079820" cy="205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23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Diagram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574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  <a:buSzPct val="100000"/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22</a:t>
            </a:r>
            <a:endParaRPr lang="en-US" sz="9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313" y="1324307"/>
            <a:ext cx="8535454" cy="4803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47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153047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68680" y="20574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packet capture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information analysis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and bandwidth monitoring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discovery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activity detection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 management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traffic analysis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filtering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1463040" y="1463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Requirements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68680" y="20574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responsive interface</a:t>
            </a:r>
          </a:p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performance</a:t>
            </a:r>
          </a:p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handling</a:t>
            </a:r>
          </a:p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packet processing</a:t>
            </a:r>
          </a:p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</a:p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database storage</a:t>
            </a:r>
          </a:p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maintenance</a:t>
            </a:r>
          </a:p>
          <a:p>
            <a:pPr marL="342900" indent="-342900"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future enhancements</a:t>
            </a:r>
          </a:p>
        </p:txBody>
      </p:sp>
      <p:pic>
        <p:nvPicPr>
          <p:cNvPr id="10" name="Image 1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153047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24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30552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744" y="3154680"/>
            <a:ext cx="10954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RESULTS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25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07051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 Home Page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26</a:t>
            </a:r>
            <a:endParaRPr lang="en-US" sz="9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28"/>
          <a:stretch/>
        </p:blipFill>
        <p:spPr>
          <a:xfrm>
            <a:off x="1078090" y="1340830"/>
            <a:ext cx="9913899" cy="47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78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– Login Page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27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BC4094C-95DC-0E2A-7327-34B3B968F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0" y="1356019"/>
            <a:ext cx="9914400" cy="474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– Registration Page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28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E8CF692-0223-2AB5-5501-E35B68591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0" y="1334394"/>
            <a:ext cx="9914400" cy="478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579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26011A75-A511-3AFF-1E9F-58D293474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9D3333A3-FC88-5922-BC75-CFEBF82B0FFF}"/>
              </a:ext>
            </a:extLst>
          </p:cNvPr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4 - Dashboard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xmlns="" id="{9389F957-08BB-6969-BAB9-8362C6042CC8}"/>
              </a:ext>
            </a:extLst>
          </p:cNvPr>
          <p:cNvSpPr/>
          <p:nvPr/>
        </p:nvSpPr>
        <p:spPr>
          <a:xfrm>
            <a:off x="548640" y="1143000"/>
            <a:ext cx="1097280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xmlns="" id="{7D9B4125-5A88-BD0D-F4B0-5D6BC75B7184}"/>
              </a:ext>
            </a:extLst>
          </p:cNvPr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xmlns="" id="{13D21AB9-8BFE-2ABA-6B6B-19632D0AB3F8}"/>
              </a:ext>
            </a:extLst>
          </p:cNvPr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29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B82B109-9E30-3BEB-20CA-DA1D52AF5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0" y="1426402"/>
            <a:ext cx="9914400" cy="459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4142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Chart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Analyzer and Intrusion Detection System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30</a:t>
            </a:r>
            <a:endParaRPr lang="en-US" sz="900" dirty="0"/>
          </a:p>
        </p:txBody>
      </p:sp>
      <p:pic>
        <p:nvPicPr>
          <p:cNvPr id="1026" name="Picture 2" descr="C:\Users\USER\Pictures\Project\mcaMini\ganttChar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72" y="1423403"/>
            <a:ext cx="10553335" cy="4605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9975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aims to make network monitoring and basic security analysis easier through a single web-based platform.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2A3572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2171700"/>
            <a:ext cx="457200" cy="45720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6" name="Image 0" descr="icons/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" y="22745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892808"/>
            <a:ext cx="17373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network monitoring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19272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2A3572"/>
          </a:solidFill>
          <a:ln/>
        </p:spPr>
      </p:sp>
      <p:sp>
        <p:nvSpPr>
          <p:cNvPr id="9" name="Shape 6"/>
          <p:cNvSpPr/>
          <p:nvPr/>
        </p:nvSpPr>
        <p:spPr>
          <a:xfrm>
            <a:off x="3483864" y="2171700"/>
            <a:ext cx="457200" cy="45720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0" name="Image 1" descr="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734" y="22745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50792" y="1892808"/>
            <a:ext cx="17373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and protocol analysis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089904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2A3572"/>
          </a:solidFill>
          <a:ln/>
        </p:spPr>
      </p:sp>
      <p:sp>
        <p:nvSpPr>
          <p:cNvPr id="13" name="Shape 9"/>
          <p:cNvSpPr/>
          <p:nvPr/>
        </p:nvSpPr>
        <p:spPr>
          <a:xfrm>
            <a:off x="6254496" y="2171700"/>
            <a:ext cx="457200" cy="45720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4" name="Image 2" descr="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366" y="227457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21424" y="1892808"/>
            <a:ext cx="17373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visualization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860536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2A3572"/>
          </a:solidFill>
          <a:ln/>
        </p:spPr>
      </p:sp>
      <p:sp>
        <p:nvSpPr>
          <p:cNvPr id="17" name="Shape 12"/>
          <p:cNvSpPr/>
          <p:nvPr/>
        </p:nvSpPr>
        <p:spPr>
          <a:xfrm>
            <a:off x="9025128" y="2171700"/>
            <a:ext cx="457200" cy="45720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8" name="Image 3" descr="icons/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7998" y="227457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592056" y="1892808"/>
            <a:ext cx="17373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activity detection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218688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2A3572"/>
          </a:solidFill>
          <a:ln/>
        </p:spPr>
      </p:sp>
      <p:sp>
        <p:nvSpPr>
          <p:cNvPr id="21" name="Shape 15"/>
          <p:cNvSpPr/>
          <p:nvPr/>
        </p:nvSpPr>
        <p:spPr>
          <a:xfrm>
            <a:off x="713232" y="3607308"/>
            <a:ext cx="457200" cy="45720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2" name="Image 4" descr="icons/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102" y="3710178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3328416"/>
            <a:ext cx="17373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security alerts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3319272" y="3218688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2A3572"/>
          </a:solidFill>
          <a:ln/>
        </p:spPr>
      </p:sp>
      <p:sp>
        <p:nvSpPr>
          <p:cNvPr id="25" name="Shape 18"/>
          <p:cNvSpPr/>
          <p:nvPr/>
        </p:nvSpPr>
        <p:spPr>
          <a:xfrm>
            <a:off x="3483864" y="3607308"/>
            <a:ext cx="457200" cy="45720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6" name="Image 5" descr="icons/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6734" y="3710178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050792" y="3328416"/>
            <a:ext cx="17373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traffic analysis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089904" y="3218688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2A3572"/>
          </a:solidFill>
          <a:ln/>
        </p:spPr>
      </p:sp>
      <p:sp>
        <p:nvSpPr>
          <p:cNvPr id="29" name="Shape 21"/>
          <p:cNvSpPr/>
          <p:nvPr/>
        </p:nvSpPr>
        <p:spPr>
          <a:xfrm>
            <a:off x="6254496" y="3607308"/>
            <a:ext cx="457200" cy="45720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30" name="Image 6" descr="icons/serv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7366" y="3710178"/>
            <a:ext cx="251460" cy="2514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821424" y="3328416"/>
            <a:ext cx="17373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monitoring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8860536" y="3218688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2A3572"/>
          </a:solidFill>
          <a:ln/>
        </p:spPr>
      </p:sp>
      <p:sp>
        <p:nvSpPr>
          <p:cNvPr id="33" name="Shape 24"/>
          <p:cNvSpPr/>
          <p:nvPr/>
        </p:nvSpPr>
        <p:spPr>
          <a:xfrm>
            <a:off x="9025128" y="3607308"/>
            <a:ext cx="457200" cy="45720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34" name="Image 7" descr="icons/fi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7998" y="3710178"/>
            <a:ext cx="251460" cy="25146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592056" y="3328416"/>
            <a:ext cx="17373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548640" y="5394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and Scapy for packet analysis and the MERN Stack for the web application — a practical, user-friendly solution for network monitoring and cybersecurity learning.</a:t>
            </a:r>
            <a:endParaRPr lang="en-US" sz="1300" dirty="0"/>
          </a:p>
        </p:txBody>
      </p:sp>
      <p:sp>
        <p:nvSpPr>
          <p:cNvPr id="37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59"/>
            <a:ext cx="10515600" cy="51302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Tamrakar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A., </a:t>
            </a: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Chaturvedi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J., </a:t>
            </a: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Poddar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M., &amp; </a:t>
            </a: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Kumari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S. (2026). Network Traffic Analyzer: Real-Time Detection and Malicious Activity Identification. International Journal on Advanced Computer Theory and Engineering.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Wawrowski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Ł., </a:t>
            </a: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Białas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A., </a:t>
            </a: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Kajzer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A., et al. (2023). Anomaly Detection Module for Network Traffic Monitoring in Public Institutions. Sensors, 23(6), 2974.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Oroian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D., </a:t>
            </a: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Bolboaca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R., Roman, A.-S., &amp; </a:t>
            </a: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Dobrota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V. (2024). Network Intrusion Detection System Using Anomaly Detection Techniques. IEEE 20th International Conference on Intelligent Computer Communication and Processing (ICCP), 93–100.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Buzzio-García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J., et al. (2024). Exploring Traffic Patterns Through Network Programmability: Introducing </a:t>
            </a: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SDNFlow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Comprehensive </a:t>
            </a: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OpenFlow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-Based Statistics Dataset for Attack Detection. IEEE Access, 12, 42163–42180.</a:t>
            </a:r>
          </a:p>
          <a:p>
            <a:pPr marL="342900" indent="-342900">
              <a:buFont typeface="+mj-lt"/>
              <a:buAutoNum type="arabicPeriod"/>
            </a:pPr>
            <a:endParaRPr lang="en-US" sz="1400" i="1" dirty="0">
              <a:solidFill>
                <a:srgbClr val="CADCFC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sz="1400" i="1" dirty="0">
              <a:solidFill>
                <a:srgbClr val="CADCFC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400" i="1" dirty="0">
              <a:solidFill>
                <a:srgbClr val="CADCFC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sz="1400" i="1" dirty="0">
              <a:solidFill>
                <a:srgbClr val="CADCFC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sz="1400" i="1" dirty="0">
              <a:solidFill>
                <a:srgbClr val="CADCFC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400" i="1" dirty="0">
              <a:solidFill>
                <a:srgbClr val="CADCFC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8A93AE"/>
                </a:solidFill>
                <a:latin typeface="Calibri" pitchFamily="34" charset="0"/>
                <a:cs typeface="Calibri" pitchFamily="34" charset="-120"/>
              </a:rPr>
              <a:t>32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394039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389120"/>
            <a:ext cx="4206240" cy="42062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5545836" y="1920240"/>
            <a:ext cx="1097280" cy="109728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5" name="Image 0" descr="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724" y="216712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1670</Words>
  <Application>Microsoft Office PowerPoint</Application>
  <PresentationFormat>Custom</PresentationFormat>
  <Paragraphs>295</Paragraphs>
  <Slides>33</Slides>
  <Notes>33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35</cp:revision>
  <dcterms:created xsi:type="dcterms:W3CDTF">2026-08-18T06:02:30Z</dcterms:created>
  <dcterms:modified xsi:type="dcterms:W3CDTF">2026-09-27T19:29:35Z</dcterms:modified>
</cp:coreProperties>
</file>